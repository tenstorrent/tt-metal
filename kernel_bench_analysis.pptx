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Bench Repository Analysis — Speaker Notes</a:t>
            </a:r>
          </a:p>
          <a:p/>
          <a:p>
            <a:r>
              <a:t>OVERVIEW:</a:t>
            </a:r>
          </a:p>
          <a:p>
            <a:r>
              <a:t>Kernel Bench (github.com/tenstorrent/kernel_bench) is a competitive leaderboard and evaluation platform that measures how well AI-driven code generation tools can autonomously implement TT-NN kernel operations for Tenstorrent hardware. Given a PyTorch operation specification, participants must generate a correct TTNN implementation that passes rigorous numerical accuracy tests on real Tenstorrent N300 hardware.</a:t>
            </a:r>
          </a:p>
          <a:p/>
          <a:p>
            <a:r>
              <a:t>KEY STATISTICS:</a:t>
            </a:r>
          </a:p>
          <a:p>
            <a:r>
              <a:t>- 42 benchmark operations spanning 6 categories: unary activations (10), unary math (11), reductions (11), data movement (8), gated units (4), and multi-operand (1)</a:t>
            </a:r>
          </a:p>
          <a:p>
            <a:r>
              <a:t>- 103 total submissions from 11 contributors</a:t>
            </a:r>
          </a:p>
          <a:p>
            <a:r>
              <a:t>- Only 3 operations fully solved (7.1% solve rate): hardsigmoid, hardswish, softsign — all simple unary pointwise activations</a:t>
            </a:r>
          </a:p>
          <a:p>
            <a:r>
              <a:t>- 15 operations partially working (in progress), 20 completely failed, 4 unattacked</a:t>
            </a:r>
          </a:p>
          <a:p/>
          <a:p>
            <a:r>
              <a:t>EVALUATION METHODOLOGY:</a:t>
            </a:r>
          </a:p>
          <a:p>
            <a:r>
              <a:t>- Tests run on Tenstorrent N300 hardware using the official tt-metalium container</a:t>
            </a:r>
          </a:p>
          <a:p>
            <a:r>
              <a:t>- Each operation has ~150+ test cases covering multiple tensor ranks (0D-4D), dtypes (float32, bfloat16), edge cases, and shape varieties</a:t>
            </a:r>
          </a:p>
          <a:p>
            <a:r>
              <a:t>- Accuracy uses ULP-based quantization error metric: a test passes if accuracy &gt;= 0.99 (within ~2 ULP error for bfloat16 with 7 mantissa bits)</a:t>
            </a:r>
          </a:p>
          <a:p>
            <a:r>
              <a:t>- Deterministic test generation with fixed seed (KERNEL_BENCH_SEED=42)</a:t>
            </a:r>
          </a:p>
          <a:p/>
          <a:p>
            <a:r>
              <a:t>DIFFICULTY GRADIENT:</a:t>
            </a:r>
          </a:p>
          <a:p>
            <a:r>
              <a:t>1. Easy (Solved): Unary pointwise activations — map directly to simple SFPU kernel chains</a:t>
            </a:r>
          </a:p>
          <a:p>
            <a:r>
              <a:t>2. Medium (In Progress): Unary math ops like cosh (68.7%), sinh (68.7%), atanh (53.8%) — functionally correct but fail on precision edge cases</a:t>
            </a:r>
          </a:p>
          <a:p>
            <a:r>
              <a:t>3. Hard (Failed): Data movement operations (transpose, slice, pad) — require complex memory access patterns</a:t>
            </a:r>
          </a:p>
          <a:p>
            <a:r>
              <a:t>4. Very Hard (Failed): Reductions (sum, mean, argmax) and multi-operand (matmul) — require cross-core coordination and FPU matrix engine usage</a:t>
            </a:r>
          </a:p>
          <a:p/>
          <a:p>
            <a:r>
              <a:t>MAIN BARRIERS:</a:t>
            </a:r>
          </a:p>
          <a:p>
            <a:r>
              <a:t>- Precision is the dominant failure mode — most in-progress operations generate functionally correct code but fail the strict bfloat16 accuracy threshold</a:t>
            </a:r>
          </a:p>
          <a:p>
            <a:r>
              <a:t>- Operations involving exp() score poorly (44-48% vs 98-100% for comparison-based ops)</a:t>
            </a:r>
          </a:p>
          <a:p>
            <a:r>
              <a:t>- Complex communication patterns (cross-tile, cross-core) are beyond current AI tool capabilities</a:t>
            </a:r>
          </a:p>
          <a:p>
            <a:r>
              <a:t>- Gated activation units requiring multiple tensor inputs remain completely unsolved</a:t>
            </a:r>
          </a:p>
          <a:p/>
          <a:p>
            <a:r>
              <a:t>INFRASTRUCTURE:</a:t>
            </a:r>
          </a:p>
          <a:p>
            <a:r>
              <a:t>- Fully automated CI/CD pipeline with parallel hardware evaluation via GitHub Actions</a:t>
            </a:r>
          </a:p>
          <a:p>
            <a:r>
              <a:t>- Automated code generation using Claude Code CLI with structured recipe prompts</a:t>
            </a:r>
          </a:p>
          <a:p>
            <a:r>
              <a:t>- Auto-generated leaderboard and per-operation reports</a:t>
            </a:r>
          </a:p>
          <a:p>
            <a:r>
              <a:t>- Three submission types: bash (most common, runs shell scripts), replay (recorded sessions), manual (baseline)</a:t>
            </a:r>
          </a:p>
          <a:p/>
          <a:p>
            <a:r>
              <a:t>TOP CONTRIBUTORS:</a:t>
            </a:r>
          </a:p>
          <a:p>
            <a:r>
              <a:t>- nachiket-adaptive-luts: Adaptive LUT approximations (3 solved ops)</a:t>
            </a:r>
          </a:p>
          <a:p>
            <a:r>
              <a:t>- rlesliehurd-aiworkflow: AI workflow automation (3 solved ops)</a:t>
            </a:r>
          </a:p>
          <a:p>
            <a:r>
              <a:t>- jmalone-tt: Claude Code + documentation approach (partial success on tril)</a:t>
            </a:r>
          </a:p>
          <a:p/>
          <a:p>
            <a:r>
              <a:t>SIGNIFICANCE:</a:t>
            </a:r>
          </a:p>
          <a:p>
            <a:r>
              <a:t>This benchmark effectively measures AI coding assistants' ability to understand tile-based memory layouts, generate correct circular buffer management, handle reader/compute/writer kernel decomposition, and produce numerically stable implementations within hardware precision constraints. The low 7.1% solve rate highlights the significant gap between current AI capabilities and the requirements of hardware-specific kernel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Kernel Bench: AI-Driven Kernel Generation for Tenstorrent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BBBCC"/>
                </a:solidFill>
              </a:defRPr>
            </a:pPr>
            <a:r>
              <a:t>github.com/tenstorrent/kernel_bench  |  42 Operations  |  103 Submissions  |  11 Contributors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400" b="1">
                <a:solidFill>
                  <a:srgbClr val="1A1A2E"/>
                </a:solidFill>
              </a:rPr>
              <a:t>Competitive benchmark platform: </a:t>
            </a:r>
            <a:r>
              <a:rPr sz="1200">
                <a:solidFill>
                  <a:srgbClr val="444444"/>
                </a:solidFill>
              </a:rPr>
              <a:t>Measures how well AI tools generate correct TTNN kernel implementations from PyTorch op specs, evaluated on real Tenstorrent N300 hardware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1A2E"/>
                </a:solidFill>
              </a:rPr>
              <a:t>Only 3 of 42 operations solved: </a:t>
            </a:r>
            <a:r>
              <a:rPr sz="1200">
                <a:solidFill>
                  <a:srgbClr val="444444"/>
                </a:solidFill>
              </a:rPr>
              <a:t>Simple unary activations (hardsigmoid, hardswish, softsign) are solved; reductions, data movement, and multi-operand ops remain unsolved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1A2E"/>
                </a:solidFill>
              </a:rPr>
              <a:t>Precision is the primary barrier: </a:t>
            </a:r>
            <a:r>
              <a:rPr sz="1200">
                <a:solidFill>
                  <a:srgbClr val="444444"/>
                </a:solidFill>
              </a:rPr>
              <a:t>bfloat16 ULP-based accuracy metric with &lt;2 ULP tolerance; most failures are numerical, not functional</a:t>
            </a: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1A1A2E"/>
                </a:solidFill>
              </a:rPr>
              <a:t>Clear difficulty gradient emerges: </a:t>
            </a:r>
            <a:r>
              <a:rPr sz="1200">
                <a:solidFill>
                  <a:srgbClr val="444444"/>
                </a:solidFill>
              </a:rPr>
              <a:t>Pointwise SFPU ops are tractable; cross-core coordination (reductions, matmul) is beyond current AI tool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84048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1A2E"/>
                </a:solidFill>
              </a:rPr>
              <a:t>Difficulty Gradient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160520"/>
            <a:ext cx="1097280" cy="868680"/>
          </a:xfrm>
          <a:prstGeom prst="roundRect">
            <a:avLst/>
          </a:prstGeom>
          <a:solidFill>
            <a:srgbClr val="2EC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Easy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Unary Activations
(hardsigmoid, hardswish, softsign)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480560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4160520"/>
            <a:ext cx="1097280" cy="868680"/>
          </a:xfrm>
          <a:prstGeom prst="roundRect">
            <a:avLst/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Unary Math
(cosh, sinh, atanh — precision issues)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4480560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4160520"/>
            <a:ext cx="1097280" cy="868680"/>
          </a:xfrm>
          <a:prstGeom prst="roundRect">
            <a:avLst/>
          </a:prstGeom>
          <a:solidFill>
            <a:srgbClr val="E74C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Hard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Data Movement
(transpose, slice, pad)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4480560"/>
            <a:ext cx="13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999999"/>
                </a:solidFill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4160520"/>
            <a:ext cx="1097280" cy="86868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50800" bIns="5080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Very Hard</a:t>
            </a:r>
          </a:p>
          <a:p>
            <a:pPr algn="ctr"/>
            <a:r>
              <a:rPr sz="700">
                <a:solidFill>
                  <a:srgbClr val="FFFFFF"/>
                </a:solidFill>
              </a:rPr>
              <a:t>Reductions &amp; Multi-op
(matmul, sum, argmax)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051560"/>
            <a:ext cx="3017520" cy="256032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051560"/>
            <a:ext cx="3291840" cy="256032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7200" y="530352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/>
          <a:lstStyle/>
          <a:p>
            <a:pPr algn="ctr"/>
            <a:r>
              <a:rPr sz="2800" b="1">
                <a:solidFill>
                  <a:srgbClr val="7B2D8E"/>
                </a:solidFill>
              </a:rPr>
              <a:t>42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Benchmark
Operations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530352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/>
          <a:lstStyle/>
          <a:p>
            <a:pPr algn="ctr"/>
            <a:r>
              <a:rPr sz="2800" b="1">
                <a:solidFill>
                  <a:srgbClr val="7B2D8E"/>
                </a:solidFill>
              </a:rPr>
              <a:t>3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Fully
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530352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/>
          <a:lstStyle/>
          <a:p>
            <a:pPr algn="ctr"/>
            <a:r>
              <a:rPr sz="2800" b="1">
                <a:solidFill>
                  <a:srgbClr val="7B2D8E"/>
                </a:solidFill>
              </a:rPr>
              <a:t>7.1%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Overall
Solve Rate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59" y="530352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/>
          <a:lstStyle/>
          <a:p>
            <a:pPr algn="ctr"/>
            <a:r>
              <a:rPr sz="2800" b="1">
                <a:solidFill>
                  <a:srgbClr val="7B2D8E"/>
                </a:solidFill>
              </a:rPr>
              <a:t>103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Total
Submissions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84080" y="5303520"/>
            <a:ext cx="2011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1600" bIns="50800"/>
          <a:lstStyle/>
          <a:p>
            <a:pPr algn="ctr"/>
            <a:r>
              <a:rPr sz="2800" b="1">
                <a:solidFill>
                  <a:srgbClr val="7B2D8E"/>
                </a:solidFill>
              </a:rPr>
              <a:t>N300</a:t>
            </a:r>
          </a:p>
          <a:p>
            <a:pPr algn="ctr"/>
            <a:r>
              <a:rPr sz="1000">
                <a:solidFill>
                  <a:srgbClr val="666666"/>
                </a:solidFill>
              </a:rPr>
              <a:t>Hardware
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749039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A1A2E"/>
                </a:solidFill>
              </a:rPr>
              <a:t>Top Performing 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06908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onsolas"/>
              </a:rPr>
              <a:t>hardsigmoid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0" y="4087368"/>
            <a:ext cx="3200400" cy="146304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72400" y="4087368"/>
            <a:ext cx="3200400" cy="14630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064240" y="40690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ECC71"/>
                </a:solidFill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24281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onsolas"/>
              </a:rPr>
              <a:t>hardswish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261104"/>
            <a:ext cx="3200400" cy="146304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0" y="4261104"/>
            <a:ext cx="3200400" cy="14630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64240" y="424281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ECC71"/>
                </a:solidFill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441655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onsolas"/>
              </a:rPr>
              <a:t>softsign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434840"/>
            <a:ext cx="3200400" cy="146304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772400" y="4434840"/>
            <a:ext cx="3200400" cy="146304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64240" y="44165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2ECC71"/>
                </a:solidFill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0" y="4590288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onsolas"/>
              </a:rPr>
              <a:t>hardtanh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4608576"/>
            <a:ext cx="3200400" cy="146304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772400" y="4608576"/>
            <a:ext cx="3126790" cy="14630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64240" y="4590288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39C12"/>
                </a:solidFill>
              </a:rPr>
              <a:t>97.7%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4764024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onsolas"/>
              </a:rPr>
              <a:t>cosh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0" y="4782312"/>
            <a:ext cx="3200400" cy="146304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772400" y="4782312"/>
            <a:ext cx="2198674" cy="14630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64240" y="4764024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39C12"/>
                </a:solidFill>
              </a:rPr>
              <a:t>68.7%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0" y="493776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onsolas"/>
              </a:rPr>
              <a:t>sinh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0" y="4956048"/>
            <a:ext cx="3200400" cy="146304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772400" y="4956048"/>
            <a:ext cx="2198674" cy="14630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64240" y="493776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39C12"/>
                </a:solidFill>
              </a:rPr>
              <a:t>68.7%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0" y="5111496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onsolas"/>
              </a:rPr>
              <a:t>sigmoid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0" y="5129784"/>
            <a:ext cx="3200400" cy="146304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772400" y="5129784"/>
            <a:ext cx="2000250" cy="14630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064240" y="5111496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39C12"/>
                </a:solidFill>
              </a:rPr>
              <a:t>62.5%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0" y="528523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333333"/>
                </a:solidFill>
                <a:latin typeface="Consolas"/>
              </a:rPr>
              <a:t>atanh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0" y="5303520"/>
            <a:ext cx="3200400" cy="146304"/>
          </a:xfrm>
          <a:prstGeom prst="round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772400" y="5303520"/>
            <a:ext cx="1721815" cy="146304"/>
          </a:xfrm>
          <a:prstGeom prst="round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064240" y="528523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39C12"/>
                </a:solidFill>
              </a:rPr>
              <a:t>53.8%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65836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BBBBCC"/>
                </a:solidFill>
              </a:rPr>
              <a:t>Tenstorrent  |  kernel_bench  |  Analysis: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