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CEC9"/>
                </a:solidFill>
                <a:latin typeface="Calibri"/>
              </a:defRPr>
            </a:pPr>
            <a:r>
              <a:t>Tenstorrent Robotics Intelligence Suite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29BFE"/>
                </a:solidFill>
                <a:latin typeface="Calibri"/>
              </a:defRPr>
            </a:pPr>
            <a:r>
              <a:t>Live Multi-Model Robotic Control on Blackhole AI Accelerators</a:t>
            </a:r>
            <a:br/>
            <a:r>
              <a:t>4 Blackhole Chips  |  2 VLA Models  |  Real-Time Simulation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2BEC3"/>
                </a:solidFill>
                <a:latin typeface="Calibri"/>
              </a:defRPr>
            </a:pPr>
            <a:r>
              <a:t>Tenstorrent AI  |  Blackhole Accelerators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CEC9"/>
                </a:solidFill>
                <a:latin typeface="Calibri"/>
              </a:defRPr>
            </a:pPr>
            <a:r>
              <a:t>The Challenge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8046720" cy="25400"/>
          </a:xfrm>
          <a:prstGeom prst="rect">
            <a:avLst/>
          </a:prstGeom>
          <a:solidFill>
            <a:srgbClr val="00C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FE6E9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  <a:r>
              <a:t>Autonomous robotic manipulation demands:</a:t>
            </a: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  <a:r>
              <a:t>    Vision -- understanding the scene from camera images</a:t>
            </a: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  <a:r>
              <a:t>    Language -- following human instructions ("pick up the cube")</a:t>
            </a: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  <a:r>
              <a:t>    Action -- generating precise motor commands at high frequency</a:t>
            </a: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  <a:r>
              <a:t>    Scale -- running multiple robots simultaneously</a:t>
            </a: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  <a:r>
              <a:t>Vision-Language-Action (VLA) models solve all four,</a:t>
            </a: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  <a:r>
              <a:t>but they need specialized hardware to run in real 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CEC9"/>
                </a:solidFill>
                <a:latin typeface="Calibri"/>
              </a:defRPr>
            </a:pPr>
            <a:r>
              <a:t>What We Are Showing Today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097280"/>
          <a:ext cx="78638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585216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Capability</a:t>
                      </a:r>
                    </a:p>
                  </a:txBody>
                  <a:tcPr>
                    <a:solidFill>
                      <a:srgbClr val="00CEC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Detail</a:t>
                      </a:r>
                    </a:p>
                  </a:txBody>
                  <a:tcPr>
                    <a:solidFill>
                      <a:srgbClr val="00CEC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Models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PI0 (2.3B params) + SmolVLA (450M params)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Hardware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4x Blackhole chips in a Quiet Box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Simulation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Franka Panda 7-DOF arms in PyBullet physics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Interface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Live Streamlit dashboard with real-time video + metrics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Scenarios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4 demonstration modes showing different capabilities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CEC9"/>
                </a:solidFill>
                <a:latin typeface="Calibri"/>
              </a:defRPr>
            </a:pPr>
            <a:r>
              <a:t>Two VLA Models, Two Strengths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8046720" cy="25400"/>
          </a:xfrm>
          <a:prstGeom prst="rect">
            <a:avLst/>
          </a:prstGeom>
          <a:solidFill>
            <a:srgbClr val="00C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FE6E9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  <a:r>
              <a:t>PI0 (Physical Intelligence Zero)</a:t>
            </a: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  <a:r>
              <a:t>    2.3 billion parameters</a:t>
            </a: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  <a:r>
              <a:t>    SigLIP vision (27 layers) + Gemma 2B language + 300M action expert</a:t>
            </a: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  <a:r>
              <a:t>    Flow matching denoising (10 steps)</a:t>
            </a: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  <a:r>
              <a:t>    ~330ms inference -- highest quality actions</a:t>
            </a: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  <a:r>
              <a:t>SmolVLA (Small Vision-Language-Action)</a:t>
            </a: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  <a:r>
              <a:t>    450 million parameters</a:t>
            </a: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  <a:r>
              <a:t>    SigLIP ViT (12 layers) + VLM (16 layers) + Expert (16 layers)</a:t>
            </a: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  <a:r>
              <a:t>    Flow matching denoising (10 steps)</a:t>
            </a: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  <a:r>
              <a:t>    ~229ms inference -- faster responses, compact footprint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00CEC9"/>
                </a:solidFill>
                <a:latin typeface="Calibri"/>
              </a:defRPr>
            </a:pPr>
            <a:r>
              <a:t>Scenario 1: Data-Parallel PI0 -- 4 Robots, 4 Chips</a:t>
            </a:r>
          </a:p>
        </p:txBody>
      </p:sp>
      <p:pic>
        <p:nvPicPr>
          <p:cNvPr id="3" name="Picture 2" descr="cust_slide5_data_parall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77240"/>
            <a:ext cx="859536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CEC9"/>
                </a:solidFill>
                <a:latin typeface="Calibri"/>
              </a:defRPr>
            </a:pPr>
            <a:r>
              <a:t>Scenario 1: Live 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8046720" cy="25400"/>
          </a:xfrm>
          <a:prstGeom prst="rect">
            <a:avLst/>
          </a:prstGeom>
          <a:solidFill>
            <a:srgbClr val="00C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FE6E9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  <a:r>
              <a:t>What you will see on screen:</a:t>
            </a: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  <a:r>
              <a:t>    Quad-view video: 4 robots moving simultaneously in a 2x2 grid</a:t>
            </a: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  <a:r>
              <a:t>    Each robot working on a different colored cube</a:t>
            </a: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  <a:r>
              <a:t>    Per-chip inference latency displayed in real-time</a:t>
            </a: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  <a:r>
              <a:t>    Aggregate throughput: ~12 FPS across 4 chips</a:t>
            </a: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  <a:r>
              <a:t>Key metric to watch:</a:t>
            </a: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  <a:r>
              <a:t>    Scaling efficiency (expect &gt;95%)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00CEC9"/>
                </a:solidFill>
                <a:latin typeface="Calibri"/>
              </a:defRPr>
            </a:pPr>
            <a:r>
              <a:t>Scenario 2: PI0 vs SmolVLA -- Head to Head</a:t>
            </a:r>
          </a:p>
        </p:txBody>
      </p:sp>
      <p:pic>
        <p:nvPicPr>
          <p:cNvPr id="3" name="Picture 2" descr="cust_slide7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77240"/>
            <a:ext cx="859536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CEC9"/>
                </a:solidFill>
                <a:latin typeface="Calibri"/>
              </a:defRPr>
            </a:pPr>
            <a:r>
              <a:t>Model Comparison Results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097280"/>
          <a:ext cx="78638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560320"/>
                <a:gridCol w="256032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0CEC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PI0</a:t>
                      </a:r>
                    </a:p>
                  </a:txBody>
                  <a:tcPr>
                    <a:solidFill>
                      <a:srgbClr val="00CEC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SmolVLA</a:t>
                      </a:r>
                    </a:p>
                  </a:txBody>
                  <a:tcPr>
                    <a:solidFill>
                      <a:srgbClr val="00CEC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Parameters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2.3B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450M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Inference latency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~330ms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~229ms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Action quality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Higher precision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Good for fast tasks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Control frequency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3.0 Hz (buffered: 12 Hz)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4.5 Hz (buffered: 15 Hz)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Action horizon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50 steps x 32 dims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50 steps x 32 dims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00CEC9"/>
                </a:solidFill>
                <a:latin typeface="Calibri"/>
              </a:defRPr>
            </a:pPr>
            <a:r>
              <a:t>Scenario 3: Ensemble Pipeline</a:t>
            </a:r>
          </a:p>
        </p:txBody>
      </p:sp>
      <p:pic>
        <p:nvPicPr>
          <p:cNvPr id="3" name="Picture 2" descr="cust_slide9_ensem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77240"/>
            <a:ext cx="859536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CEC9"/>
                </a:solidFill>
                <a:latin typeface="Calibri"/>
              </a:defRPr>
            </a:pPr>
            <a:r>
              <a:t>Three Fusion Strategies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8046720" cy="25400"/>
          </a:xfrm>
          <a:prstGeom prst="rect">
            <a:avLst/>
          </a:prstGeom>
          <a:solidFill>
            <a:srgbClr val="00C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FE6E9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  <a:r>
              <a:t>1. Weighted Average</a:t>
            </a: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  <a:r>
              <a:t>    fused = 0.6 x PI0 + 0.4 x SmolVLA</a:t>
            </a: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  <a:r>
              <a:t>    Best for general-purpose blending</a:t>
            </a: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  <a:r>
              <a:t>2. Temporal Blend</a:t>
            </a: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  <a:r>
              <a:t>    SmolVLA for immediate actions (fast reflexes)</a:t>
            </a: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  <a:r>
              <a:t>    PI0 for future actions (precise planning)</a:t>
            </a: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  <a:r>
              <a:t>    Smooth sigmoid crossover between the two</a:t>
            </a: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  <a:r>
              <a:t>3. Confidence Gate</a:t>
            </a: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  <a:r>
              <a:t>    Per-timestep: pick the more confident model (lower action variance)</a:t>
            </a: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  <a:r>
              <a:t>    Automatic model selection, no manual tuning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CEC9"/>
                </a:solidFill>
                <a:latin typeface="Calibri"/>
              </a:defRPr>
            </a:pPr>
            <a:r>
              <a:t>Scenario 4: Throughput Scaling Benchmark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8046720" cy="25400"/>
          </a:xfrm>
          <a:prstGeom prst="rect">
            <a:avLst/>
          </a:prstGeom>
          <a:solidFill>
            <a:srgbClr val="00C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FE6E9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  <a:r>
              <a:t>Measures throughput from 1 to 4 Blackhole chips:</a:t>
            </a: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  <a:r>
              <a:t>    1 chip:   ~3.0 FPS</a:t>
            </a: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  <a:r>
              <a:t>    2 chips:  ~5.9 FPS</a:t>
            </a: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  <a:r>
              <a:t>    3 chips:  ~8.7 FPS</a:t>
            </a: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  <a:r>
              <a:t>    4 chips: ~11.5 FPS</a:t>
            </a: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  <a:r>
              <a:t>Scaling efficiency: &gt;95%</a:t>
            </a: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  <a:r>
              <a:t>Generates real-time bar charts and latency waterfall diagrams.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DCB6E"/>
                </a:solidFill>
                <a:latin typeface="Calibri"/>
              </a:defRPr>
            </a:pPr>
            <a:r>
              <a:t>Predictable scaling. Budget your hardware, predict your throughput.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CEC9"/>
                </a:solidFill>
                <a:latin typeface="Calibri"/>
              </a:defRPr>
            </a:pPr>
            <a:r>
              <a:t>Live Dashboard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8046720" cy="25400"/>
          </a:xfrm>
          <a:prstGeom prst="rect">
            <a:avLst/>
          </a:prstGeom>
          <a:solidFill>
            <a:srgbClr val="00C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FE6E9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  <a:r>
              <a:t>The Streamlit interface provides:</a:t>
            </a: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  <a:r>
              <a:t>    Scenario selector -- switch between all 4 demos instantly</a:t>
            </a: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  <a:r>
              <a:t>    Configuration panel -- task prompts, re-plan interval, fusion strategy</a:t>
            </a: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  <a:r>
              <a:t>    Live video feed -- quad-view or side-by-side, updated at ~7 FPS</a:t>
            </a: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  <a:r>
              <a:t>    Real-time metrics -- per-chip latency, control frequency, distance</a:t>
            </a: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  <a:r>
              <a:t>    Metric cards -- at-a-glance performance for each Blackhole chip</a:t>
            </a: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  <a:r>
              <a:t>    Video recording -- every run saves an MP4 for offline review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CEC9"/>
                </a:solidFill>
                <a:latin typeface="Calibri"/>
              </a:defRPr>
            </a:pPr>
            <a:r>
              <a:t>From Simulation to Reality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8046720" cy="25400"/>
          </a:xfrm>
          <a:prstGeom prst="rect">
            <a:avLst/>
          </a:prstGeom>
          <a:solidFill>
            <a:srgbClr val="00C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FE6E9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  <a:r>
              <a:t>Phase 1: Simulation (Today)</a:t>
            </a: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  <a:r>
              <a:t>    Full inference pipeline validated on Tenstorrent hardware</a:t>
            </a: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  <a:r>
              <a:t>    Physics-accurate robot simulation (Franka Panda in PyBullet)</a:t>
            </a: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  <a:r>
              <a:t>    All models running on real Blackhole chips -- only the robot is simulated</a:t>
            </a: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  <a:r>
              <a:t>Phase 2: Physical Robot (Next)</a:t>
            </a: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  <a:r>
              <a:t>    Replace PyBullet with real Franka Panda arm + cameras</a:t>
            </a: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  <a:r>
              <a:t>    Same inference code, same chip allocation, same dashboard</a:t>
            </a: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  <a:r>
              <a:t>    multi_env.py abstraction: swap capture_observations() for hardware drivers</a:t>
            </a: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  <a:r>
              <a:t>The demo you see today IS the production inference pipeline.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CEC9"/>
                </a:solidFill>
                <a:latin typeface="Calibri"/>
              </a:defRPr>
            </a:pPr>
            <a:r>
              <a:t>Why Tenstorrent for Robotics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097280"/>
          <a:ext cx="78638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530352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Advantage</a:t>
                      </a:r>
                    </a:p>
                  </a:txBody>
                  <a:tcPr>
                    <a:solidFill>
                      <a:srgbClr val="00CEC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Detail</a:t>
                      </a:r>
                    </a:p>
                  </a:txBody>
                  <a:tcPr>
                    <a:solidFill>
                      <a:srgbClr val="00CEC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Deterministic latency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Consistent ~330ms inference, no GPU scheduling jitter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Linear scaling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Add chips, add robots -- predictable throughput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Multi-model flexibility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Run different models on different chips simultaneously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Low power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Quiet Box form factor, suitable for edge deployment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Pipeline innovation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Ensemble multi-model inference not feasible on single-GPU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CEC9"/>
                </a:solidFill>
                <a:latin typeface="Calibri"/>
              </a:defRPr>
            </a:pPr>
            <a:r>
              <a:t>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8046720" cy="25400"/>
          </a:xfrm>
          <a:prstGeom prst="rect">
            <a:avLst/>
          </a:prstGeom>
          <a:solidFill>
            <a:srgbClr val="00C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FE6E9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  <a:r>
              <a:t>Today we demonstrated:</a:t>
            </a: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  <a:r>
              <a:t>1. Data parallelism: 4 robots on 4 chips with &gt;95% scaling efficiency</a:t>
            </a: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  <a:r>
              <a:t>2. Model comparison: PI0 vs SmolVLA running simultaneously, same hardware</a:t>
            </a: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  <a:r>
              <a:t>3. Ensemble intelligence: two models cooperating for superior control</a:t>
            </a: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  <a:r>
              <a:t>4. Predictable scaling: linear throughput growth from 1 to 4 chips</a:t>
            </a: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  <a:r>
              <a:t>Next Steps:</a:t>
            </a: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  <a:r>
              <a:t>    Deploy on physical Franka Panda robot</a:t>
            </a: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  <a:r>
              <a:t>    Expand to additional VLA models (OpenVLA, RT-2)</a:t>
            </a: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  <a:r>
              <a:t>    Scale to 8+ chip configurations (Galaxy)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CEC9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29BFE"/>
                </a:solidFill>
                <a:latin typeface="Calibri"/>
              </a:defRPr>
            </a:pPr>
            <a:r>
              <a:t>Live demo available now -- choose any scenario from the dashboard.</a:t>
            </a:r>
            <a:br/>
            <a:br/>
            <a:r>
              <a:t>./models/experimental/robotics_demo/run_demo.sh</a:t>
            </a:r>
            <a:br/>
            <a:br/>
            <a:r>
              <a:t>Tenstorrent Robotics Intelligence Suite v0.1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2BEC3"/>
                </a:solidFill>
                <a:latin typeface="Calibri"/>
              </a:defRPr>
            </a:pPr>
            <a:r>
              <a:t>Tenstorrent AI  |  Blackhole Accelerators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